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3" Type="http://schemas.openxmlformats.org/officeDocument/2006/relationships/viewProps" Target="viewProps.xml" /><Relationship Id="rId4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5" Type="http://schemas.openxmlformats.org/officeDocument/2006/relationships/tableStyles" Target="tableStyles.xml" /><Relationship Id="rId4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生物情報処理演習 第7回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統計学的仮説検定 ① 〜1標本t検定と対応のあるt検定〜</a:t>
            </a:r>
            <a:br/>
            <a:br/>
            <a:r>
              <a:rPr/>
              <a:t>生物情報処理演習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2026年度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今日のゴール（What &amp; Why）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実験データに「差がある」と科学的に主張するための武器を手に入れる</a:t>
                </a:r>
              </a:p>
              <a:p>
                <a:pPr lvl="0"/>
                <a:r>
                  <a:rPr b="1"/>
                  <a:t>1. 検定の論理を理解する</a:t>
                </a:r>
              </a:p>
              <a:p>
                <a:pPr lvl="1"/>
                <a:r>
                  <a:rPr/>
                  <a:t>「偶然のばらつき」と「統計学的に有意な差」を確率で区別する背理法の考え方を身につける</a:t>
                </a:r>
              </a:p>
              <a:p>
                <a:pPr lvl="0"/>
                <a:r>
                  <a:rPr b="1"/>
                  <a:t>2. Rで「対応のあるt検定」を実行・解釈する</a:t>
                </a:r>
              </a:p>
              <a:p>
                <a:pPr lvl="1"/>
                <a:r>
                  <a:rPr>
                    <a:latin typeface="Courier"/>
                  </a:rPr>
                  <a:t>t.test()</a:t>
                </a:r>
                <a:r>
                  <a:rPr/>
                  <a:t> の出力を読み解き、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値、自由度、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値、信頼区間を正確に説明できる</a:t>
                </a:r>
              </a:p>
              <a:p>
                <a:pPr lvl="0"/>
                <a:r>
                  <a:rPr b="1"/>
                  <a:t>3. イネの表現型解析レポートを完成させる</a:t>
                </a:r>
              </a:p>
              <a:p>
                <a:pPr lvl="1"/>
                <a:r>
                  <a:rPr/>
                  <a:t>出穂後の茎葉重データ（Genotype A vs B）を解析し、生物学的な意味（枯れ上がり/Stay-green）を考察する</a:t>
                </a:r>
              </a:p>
            </p:txBody>
          </p:sp>
        </mc:Choice>
      </mc:AlternateContent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本日のロードマップ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Part 1：講義・理論編（約35分）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統計学的推測と実験誤差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仮説検定の思考法（帰無仮説と対立仮説）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1標本t検定のロジック（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値と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値）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対応のある2標本のt検定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両側検定 vs 片側検定の判断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Part 2：実践・HandsOn編（約45分）</a:t>
            </a:r>
          </a:p>
          <a:p>
            <a:pPr lvl="0" indent="-342900" marL="342900">
              <a:buAutoNum type="arabicPeriod"/>
            </a:pPr>
            <a:r>
              <a:rPr/>
              <a:t>RStudioでのExcelデータ読み込み</a:t>
            </a:r>
          </a:p>
          <a:p>
            <a:pPr lvl="0" indent="-342900" marL="342900">
              <a:buAutoNum type="arabicPeriod"/>
            </a:pPr>
            <a:r>
              <a:rPr/>
              <a:t>データの可視化（箱ひげ図＋対応線）</a:t>
            </a:r>
          </a:p>
          <a:p>
            <a:pPr lvl="0" indent="-342900" marL="342900">
              <a:buAutoNum type="arabicPeriod"/>
            </a:pPr>
            <a:r>
              <a:rPr/>
              <a:t>対応のあるt検定の実行（課題1〜3）</a:t>
            </a:r>
          </a:p>
          <a:p>
            <a:pPr lvl="0" indent="-342900" marL="342900">
              <a:buAutoNum type="arabicPeriod"/>
            </a:pPr>
            <a:r>
              <a:rPr/>
              <a:t>結果の生物学的解釈とレポート作成</a:t>
            </a:r>
          </a:p>
          <a:p>
            <a:pPr lvl="0" indent="-342900" marL="342900">
              <a:buAutoNum type="arabicPeriod"/>
            </a:pPr>
            <a:r>
              <a:rPr/>
              <a:t>トラブルシューティング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生成AI活用ガイド（賢い質問のコツ）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ChatGPT / Gemini / Claude 等の積極的な活用を推奨します！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〇 良い質問の例（理解が深まる）</a:t>
            </a:r>
          </a:p>
          <a:p>
            <a:pPr lvl="0"/>
            <a:r>
              <a:rPr/>
              <a:t>「Rの</a:t>
            </a:r>
            <a:r>
              <a:rPr>
                <a:latin typeface="Courier"/>
              </a:rPr>
              <a:t>t.test</a:t>
            </a:r>
            <a:r>
              <a:rPr/>
              <a:t>で</a:t>
            </a:r>
            <a:r>
              <a:rPr>
                <a:latin typeface="Courier"/>
              </a:rPr>
              <a:t>alternative="greater"</a:t>
            </a:r>
            <a:r>
              <a:rPr/>
              <a:t>と</a:t>
            </a:r>
            <a:r>
              <a:rPr>
                <a:latin typeface="Courier"/>
              </a:rPr>
              <a:t>"less"</a:t>
            </a:r>
            <a:r>
              <a:rPr/>
              <a:t>の向きの決め方を教えて」</a:t>
            </a:r>
          </a:p>
          <a:p>
            <a:pPr lvl="0"/>
            <a:r>
              <a:rPr/>
              <a:t>「対応のあるt検定で95%信頼区間に0が含まれるとはどういう意味ですか？」</a:t>
            </a:r>
          </a:p>
          <a:p>
            <a:pPr lvl="0"/>
            <a:r>
              <a:rPr/>
              <a:t>「このRコードで </a:t>
            </a:r>
            <a:r>
              <a:rPr>
                <a:latin typeface="Courier"/>
              </a:rPr>
              <a:t>Error: object not found</a:t>
            </a:r>
            <a:r>
              <a:rPr/>
              <a:t> が出ました。原因を教えて」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△ もったいない質問</a:t>
                </a:r>
              </a:p>
              <a:p>
                <a:pPr lvl="0"/>
                <a:r>
                  <a:rPr/>
                  <a:t>「今日の課題のレポート全部書いて」</a:t>
                </a:r>
              </a:p>
              <a:p>
                <a:pPr lvl="1"/>
                <a:r>
                  <a:rPr/>
                  <a:t>AIが出力した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 値の解釈が本当に合っているか、</a:t>
                </a:r>
                <a:r>
                  <a:rPr b="1"/>
                  <a:t>今日の講義知識でジャッジできること</a:t>
                </a:r>
                <a:r>
                  <a:rPr/>
                  <a:t>があなたの強みになります！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【理論】統計学的推測とは？（母集団と標本）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私たちが知りたいのは「母集団」、手に入るのは「標本」</a:t>
                </a:r>
              </a:p>
              <a:p>
                <a:pPr lvl="0"/>
                <a:r>
                  <a:rPr b="1"/>
                  <a:t>母集団（Population）</a:t>
                </a:r>
              </a:p>
              <a:p>
                <a:pPr lvl="1"/>
                <a:r>
                  <a:rPr/>
                  <a:t>知りたい対象の全体（例：あるイネ品種のすべての個体の茎葉重）</a:t>
                </a:r>
              </a:p>
              <a:p>
                <a:pPr lvl="1"/>
                <a:r>
                  <a:rPr/>
                  <a:t>母平均 </a:t>
                </a:r>
                <a14:m>
                  <m:oMath xmlns:m="http://schemas.openxmlformats.org/officeDocument/2006/math">
                    <m:r>
                      <m:t>μ</m:t>
                    </m:r>
                  </m:oMath>
                </a14:m>
                <a:r>
                  <a:rPr/>
                  <a:t> や 母分散 </a:t>
                </a:r>
                <a14:m>
                  <m:oMath xmlns:m="http://schemas.openxmlformats.org/officeDocument/2006/math">
                    <m:sSup>
                      <m:e>
                        <m:r>
                          <m:t>σ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は通常</a:t>
                </a:r>
                <a:r>
                  <a:rPr b="1"/>
                  <a:t>「神のみぞ知る未知の値」</a:t>
                </a:r>
              </a:p>
              <a:p>
                <a:pPr lvl="0"/>
                <a:r>
                  <a:rPr b="1"/>
                  <a:t>標本（Sample）</a:t>
                </a:r>
              </a:p>
              <a:p>
                <a:pPr lvl="1"/>
                <a:r>
                  <a:rPr/>
                  <a:t>実験で実際に測定できた一部の個体（例：育てた24個体）</a:t>
                </a:r>
              </a:p>
              <a:p>
                <a:pPr lvl="1"/>
                <a:r>
                  <a:rPr/>
                  <a:t>標本平均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 や 不偏分散 </a:t>
                </a:r>
                <a14:m>
                  <m:oMath xmlns:m="http://schemas.openxmlformats.org/officeDocument/2006/math">
                    <m:sSup>
                      <m:e>
                        <m:r>
                          <m:t>s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oMath>
                </a14:m>
                <a:r>
                  <a:rPr/>
                  <a:t> は手元で計算できる</a:t>
                </a:r>
              </a:p>
              <a:p>
                <a:pPr lvl="0"/>
                <a:r>
                  <a:rPr b="1"/>
                  <a:t>実験科学のジレンマ</a:t>
                </a:r>
              </a:p>
              <a:p>
                <a:pPr lvl="1"/>
                <a:r>
                  <a:rPr/>
                  <a:t>標本から計算した平均値には、必ず</a:t>
                </a:r>
                <a:r>
                  <a:rPr b="1"/>
                  <a:t>サンプリングの偶然（実験誤差）</a:t>
                </a:r>
                <a:r>
                  <a:rPr/>
                  <a:t>が含まれる！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【理論】中心極限定理と標準誤差（SE）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標本サイズ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 b="1"/>
                  <a:t> を増やすと、標本平均のブレは急激に縮まる</a:t>
                </a:r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標本平均のばらつき（標準誤差）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S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m:t>s</m:t>
                          </m:r>
                        </m:num>
                        <m:den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n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- </a:t>
                </a:r>
                <a14:m>
                  <m:oMath xmlns:m="http://schemas.openxmlformats.org/officeDocument/2006/math">
                    <m:r>
                      <m:t>s</m:t>
                    </m:r>
                  </m:oMath>
                </a14:m>
                <a:r>
                  <a:rPr/>
                  <a:t>: 標本の標準偏差（個体ごとのばらつき） -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: サンプルサイズ（個体数） - </a:t>
                </a:r>
                <a:r>
                  <a:rPr b="1"/>
                  <a:t>ポイント</a:t>
                </a:r>
                <a:r>
                  <a:rPr/>
                  <a:t>：個体数 </a:t>
                </a:r>
                <a14:m>
                  <m:oMath xmlns:m="http://schemas.openxmlformats.org/officeDocument/2006/math">
                    <m:r>
                      <m:t>n</m:t>
                    </m:r>
                  </m:oMath>
                </a14:m>
                <a:r>
                  <a:rPr/>
                  <a:t> を4倍に増やせば、平均値の推定誤差は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m:t>1</m:t>
                        </m:r>
                      </m:num>
                      <m:den>
                        <m:r>
                          <m:t>2</m:t>
                        </m:r>
                      </m:den>
                    </m:f>
                  </m:oMath>
                </a14:m>
                <a:r>
                  <a:rPr/>
                  <a:t> に減る！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中心極限定理の直感</a:t>
                </a:r>
              </a:p>
              <a:p>
                <a:pPr lvl="0"/>
                <a:r>
                  <a:rPr/>
                  <a:t>サイコロ1個の目は平らな一様分布</a:t>
                </a:r>
              </a:p>
              <a:p>
                <a:pPr lvl="0"/>
                <a:r>
                  <a:rPr/>
                  <a:t>しかし、サイコロ10個振って「平均」をとると、</a:t>
                </a:r>
                <a:r>
                  <a:rPr b="1"/>
                  <a:t>きれいな正規分布</a:t>
                </a:r>
                <a:r>
                  <a:rPr/>
                  <a:t>になる！</a:t>
                </a:r>
              </a:p>
              <a:p>
                <a:pPr lvl="0"/>
                <a:r>
                  <a:rPr/>
                  <a:t>「独立な多数の誤差の和は正規分布に従う」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これが統計的検定の土台</a:t>
                </a:r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【理論】仮説検定の思考法：背理法のアプローチ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「効果がある！」と直接証明するのは難しい。なぜなら偶然かもしれないから。</a:t>
                </a:r>
              </a:p>
              <a:p>
                <a:pPr lvl="0"/>
                <a:r>
                  <a:rPr b="1"/>
                  <a:t>科学者のアプローチ（背理法）</a:t>
                </a:r>
              </a:p>
              <a:p>
                <a:pPr lvl="1" indent="-342900" marL="685800">
                  <a:buAutoNum type="arabicPeriod"/>
                </a:pPr>
                <a:r>
                  <a:rPr/>
                  <a:t>あえて</a:t>
                </a:r>
                <a:r>
                  <a:rPr b="1"/>
                  <a:t>「効果はない（差はゼロである）」</a:t>
                </a:r>
                <a:r>
                  <a:rPr/>
                  <a:t>という仮説を立てる（</a:t>
                </a:r>
                <a:r>
                  <a:rPr b="1"/>
                  <a:t>帰無仮説</a:t>
                </a:r>
                <a:r>
                  <a:rPr/>
                  <a:t>）</a:t>
                </a:r>
              </a:p>
              <a:p>
                <a:pPr lvl="1" indent="-342900" marL="685800">
                  <a:buAutoNum type="arabicPeriod"/>
                </a:pPr>
                <a:r>
                  <a:rPr/>
                  <a:t>もし効果がない世界だとしたら、手元のデータのような結果が偶然生じる確率はどれくらいかを計算する（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 b="1"/>
                  <a:t>値</a:t>
                </a:r>
                <a:r>
                  <a:rPr/>
                  <a:t>）</a:t>
                </a:r>
              </a:p>
              <a:p>
                <a:pPr lvl="1" indent="-342900" marL="685800">
                  <a:buAutoNum type="arabicPeriod"/>
                </a:pPr>
                <a:r>
                  <a:rPr/>
                  <a:t>その確率があまりにも低ければ（例: 5%未満）…</a:t>
                </a:r>
              </a:p>
              <a:p>
                <a:pPr lvl="1" indent="-342900" marL="685800">
                  <a:buAutoNum type="arabicPeriod"/>
                </a:pPr>
                <a:r>
                  <a:rPr b="1"/>
                  <a:t>「効果がないという前提はおかしい！効果はある！」</a:t>
                </a:r>
                <a:r>
                  <a:rPr/>
                  <a:t>と結論づける（</a:t>
                </a:r>
                <a:r>
                  <a:rPr b="1"/>
                  <a:t>帰無仮説の棄却</a:t>
                </a:r>
                <a:r>
                  <a:rPr/>
                  <a:t>）</a:t>
                </a:r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【理論】帰無仮説（H₀）と対立仮説（H₁）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帰無仮説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 b="1"/>
                  <a:t>（Null Hypothesis）</a:t>
                </a:r>
              </a:p>
              <a:p>
                <a:pPr lvl="0"/>
                <a:r>
                  <a:rPr b="1"/>
                  <a:t>「差はない」「効果はない」</a:t>
                </a:r>
              </a:p>
              <a:p>
                <a:pPr lvl="0"/>
                <a14:m>
                  <m:oMath xmlns:m="http://schemas.openxmlformats.org/officeDocument/2006/math">
                    <m:r>
                      <m:t>μ</m:t>
                    </m:r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または </a:t>
                </a:r>
                <a14:m>
                  <m:oMath xmlns:m="http://schemas.openxmlformats.org/officeDocument/2006/math"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</a:p>
              <a:p>
                <a:pPr lvl="0"/>
                <a:r>
                  <a:rPr b="1"/>
                  <a:t>特徴</a:t>
                </a:r>
                <a:r>
                  <a:rPr/>
                  <a:t>：確率分布を厳密に計算できる基準となる仮説</a:t>
                </a:r>
              </a:p>
              <a:p>
                <a:pPr lvl="0"/>
                <a:r>
                  <a:rPr b="1"/>
                  <a:t>覚え方</a:t>
                </a:r>
                <a:r>
                  <a:rPr/>
                  <a:t>：「新薬の効果が無に帰す（無駄だった）」のが帰無仮説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対立仮説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 b="1"/>
                  <a:t>（Alternative Hypothesis）</a:t>
                </a:r>
              </a:p>
              <a:p>
                <a:pPr lvl="0"/>
                <a:r>
                  <a:rPr b="1"/>
                  <a:t>「差がある」「効果がある」</a:t>
                </a:r>
              </a:p>
              <a:p>
                <a:pPr lvl="0"/>
                <a14:m>
                  <m:oMath xmlns:m="http://schemas.openxmlformats.org/officeDocument/2006/math">
                    <m:r>
                      <m:t>μ</m:t>
                    </m:r>
                    <m:r>
                      <m:rPr>
                        <m:sty m:val="p"/>
                      </m:rPr>
                      <m:t>≠</m:t>
                    </m:r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または </a:t>
                </a:r>
                <a14:m>
                  <m:oMath xmlns:m="http://schemas.openxmlformats.org/officeDocument/2006/math"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≠</m:t>
                    </m:r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2</m:t>
                        </m:r>
                      </m:sub>
                    </m:sSub>
                  </m:oMath>
                </a14:m>
              </a:p>
              <a:p>
                <a:pPr lvl="0"/>
                <a:r>
                  <a:rPr b="1"/>
                  <a:t>特徴</a:t>
                </a:r>
                <a:r>
                  <a:rPr/>
                  <a:t>：実験者が本当に示したい主張</a:t>
                </a:r>
              </a:p>
              <a:p>
                <a:pPr lvl="0"/>
                <a:r>
                  <a:rPr/>
                  <a:t>帰無仮説が退けられたときに初めて採用（採択）される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【理論】1標本t検定の統計量（t値とは何か？）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 b="1"/>
                  <a:t>値は「観測された差」が「偶然の誤差」の何倍大きいかを表す比率（S/N比）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t</m:t>
                      </m:r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acc>
                            <m:accPr>
                              <m:chr m:val="‾"/>
                            </m:accPr>
                            <m:e>
                              <m:r>
                                <m:t>x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μ</m:t>
                              </m:r>
                            </m:e>
                            <m:sub>
                              <m: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m:t>S</m:t>
                          </m:r>
                          <m:r>
                            <m:t>E</m:t>
                          </m:r>
                        </m:den>
                      </m:f>
                      <m:r>
                        <m:rPr>
                          <m:sty m:val="p"/>
                        </m:rPr>
                        <m:t>=</m:t>
                      </m:r>
                      <m:f>
                        <m:fPr>
                          <m:type m:val="bar"/>
                        </m:fPr>
                        <m:num>
                          <m:acc>
                            <m:accPr>
                              <m:chr m:val="‾"/>
                            </m:accPr>
                            <m:e>
                              <m:r>
                                <m:t>x</m:t>
                              </m:r>
                            </m:e>
                          </m:acc>
                          <m:r>
                            <m:rPr>
                              <m:sty m:val="p"/>
                            </m:rPr>
                            <m:t>−</m:t>
                          </m:r>
                          <m:sSub>
                            <m:e>
                              <m:r>
                                <m:t>μ</m:t>
                              </m:r>
                            </m:e>
                            <m:sub>
                              <m: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m:t>s</m:t>
                          </m:r>
                          <m:r>
                            <m:rPr>
                              <m:sty m:val="p"/>
                            </m:rPr>
                            <m:t>/</m:t>
                          </m:r>
                          <m:rad>
                            <m:radPr>
                              <m:degHide m:val="on"/>
                            </m:radPr>
                            <m:deg/>
                            <m:e>
                              <m:r>
                                <m:t>n</m:t>
                              </m:r>
                            </m:e>
                          </m:rad>
                        </m:den>
                      </m:f>
                    </m:oMath>
                  </m:oMathPara>
                </a14:m>
              </a:p>
              <a:p>
                <a:pPr lvl="0"/>
                <a:r>
                  <a:rPr b="1"/>
                  <a:t>分子（シグナル）</a:t>
                </a:r>
                <a:r>
                  <a:rPr/>
                  <a:t>：データの標本平均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x</m:t>
                        </m:r>
                      </m:e>
                    </m:acc>
                  </m:oMath>
                </a14:m>
                <a:r>
                  <a:rPr/>
                  <a:t> と 基準値 </a:t>
                </a:r>
                <a14:m>
                  <m:oMath xmlns:m="http://schemas.openxmlformats.org/officeDocument/2006/math"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 のズレ</a:t>
                </a:r>
              </a:p>
              <a:p>
                <a:pPr lvl="0"/>
                <a:r>
                  <a:rPr b="1"/>
                  <a:t>分母（ノイズ）</a:t>
                </a:r>
                <a:r>
                  <a:rPr/>
                  <a:t>：実験誤差の大きさ（標準誤差 </a:t>
                </a:r>
                <a14:m>
                  <m:oMath xmlns:m="http://schemas.openxmlformats.org/officeDocument/2006/math">
                    <m:r>
                      <m:t>S</m:t>
                    </m:r>
                    <m:r>
                      <m:t>E</m:t>
                    </m:r>
                  </m:oMath>
                </a14:m>
                <a:r>
                  <a:rPr/>
                  <a:t>）</a:t>
                </a:r>
              </a:p>
              <a:p>
                <a:pPr lvl="0"/>
                <a:r>
                  <a:rPr b="1"/>
                  <a:t>直感的な判断</a:t>
                </a:r>
                <a:r>
                  <a:rPr/>
                  <a:t>：</a:t>
                </a:r>
              </a:p>
              <a:p>
                <a:pPr lvl="1"/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≈</m:t>
                    </m:r>
                    <m:r>
                      <m:t>0</m:t>
                    </m:r>
                  </m:oMath>
                </a14:m>
                <a:r>
                  <a:rPr/>
                  <a:t> ：ズレは誤差の範囲内（偶然）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|</m:t>
                    </m:r>
                    <m:r>
                      <m:t>t</m:t>
                    </m:r>
                    <m:r>
                      <m:rPr>
                        <m:sty m:val="p"/>
                      </m:rPr>
                      <m:t>|</m:t>
                    </m:r>
                    <m:r>
                      <m:rPr>
                        <m:sty m:val="p"/>
                      </m:rPr>
                      <m:t>≥</m:t>
                    </m:r>
                    <m:r>
                      <m:t>2.0</m:t>
                    </m:r>
                  </m:oMath>
                </a14:m>
                <a:r>
                  <a:rPr/>
                  <a:t> 前後 ：ズレは誤差の2倍以上（偶然とは考えにくい！）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【理論】p値の正しい定義（最重要！）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★ 統計学で最も誤解されやすいポイントです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正しい定義（〇）</a:t>
                </a:r>
              </a:p>
              <a:p>
                <a:pPr lvl="0" indent="0" marL="0">
                  <a:buNone/>
                </a:pPr>
                <a:r>
                  <a:rPr b="1"/>
                  <a:t>「帰無仮説（差がない）が真であると仮定したときに、今回観測されたデータ（またはそれ以上に極端なデータ）が得られる確率」</a:t>
                </a:r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「差がない世界だとしたら、こんな極端なデータが出る確率はたった〇％しかない」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よくある誤解（× NG!）</a:t>
                </a:r>
              </a:p>
              <a:p>
                <a:pPr lvl="0"/>
                <a:r>
                  <a:rPr/>
                  <a:t>×「帰無仮説が正しい確率」</a:t>
                </a:r>
              </a:p>
              <a:p>
                <a:pPr lvl="0"/>
                <a:r>
                  <a:rPr/>
                  <a:t>×「対立仮説が間違っている確率」</a:t>
                </a:r>
              </a:p>
              <a:p>
                <a:pPr lvl="0"/>
                <a:r>
                  <a:rPr/>
                  <a:t>×「差がない確率」</a:t>
                </a:r>
              </a:p>
              <a:p>
                <a:pPr lvl="0" indent="0" marL="0">
                  <a:buNone/>
                </a:pPr>
                <a:r>
                  <a:rPr/>
                  <a:t>※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値は「データが出る確率」であり、「仮説が正しい確率」ではありません！</a:t>
                </a:r>
              </a:p>
            </p:txBody>
          </p:sp>
        </mc:Choice>
      </mc:AlternateContent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【理論】有意水準（α）と棄却域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どこからを「あり得ないほど珍しい」とみなすかの境界線</a:t>
                </a:r>
              </a:p>
              <a:p>
                <a:pPr lvl="0"/>
                <a:r>
                  <a:rPr b="1"/>
                  <a:t>有意水準 </a:t>
                </a:r>
                <a14:m>
                  <m:oMath xmlns:m="http://schemas.openxmlformats.org/officeDocument/2006/math">
                    <m:r>
                      <m:t>α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0.05</m:t>
                    </m:r>
                  </m:oMath>
                </a14:m>
                <a:r>
                  <a:rPr b="1"/>
                  <a:t>（5%水準）</a:t>
                </a:r>
              </a:p>
              <a:p>
                <a:pPr lvl="1"/>
                <a:r>
                  <a:rPr/>
                  <a:t>科学分野で最も広く使われる基準（20回に1回以下の珍しさ）</a:t>
                </a:r>
              </a:p>
              <a:p>
                <a:pPr lvl="0"/>
                <a:r>
                  <a:rPr b="1"/>
                  <a:t>判定ルール</a:t>
                </a:r>
                <a:r>
                  <a:rPr/>
                  <a:t>：</a:t>
                </a:r>
              </a:p>
              <a:p>
                <a:pPr lvl="1"/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0.05</m:t>
                    </m:r>
                  </m:oMath>
                </a14:m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帰無仮説を棄却（</a:t>
                </a:r>
                <a:r>
                  <a:rPr b="1"/>
                  <a:t>有意差あり</a:t>
                </a:r>
                <a:r>
                  <a:rPr/>
                  <a:t>、Significant）</a:t>
                </a:r>
              </a:p>
              <a:p>
                <a:pPr lvl="2"/>
                <a:r>
                  <a:rPr/>
                  <a:t>「偶然とは考えにくい差が認められた」</a:t>
                </a:r>
              </a:p>
              <a:p>
                <a:pPr lvl="1"/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≥</m:t>
                    </m:r>
                    <m:r>
                      <m:t>0.05</m:t>
                    </m:r>
                  </m:oMath>
                </a14:m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帰無仮説を保留（</a:t>
                </a:r>
                <a:r>
                  <a:rPr b="1"/>
                  <a:t>有意差なし</a:t>
                </a:r>
                <a:r>
                  <a:rPr/>
                  <a:t>、Not Significant）</a:t>
                </a:r>
              </a:p>
              <a:p>
                <a:pPr lvl="2"/>
                <a:r>
                  <a:rPr/>
                  <a:t>「差があるとは言えない（※『差がないことが証明された』ではない！）」</a:t>
                </a:r>
              </a:p>
            </p:txBody>
          </p:sp>
        </mc:Choice>
      </mc:AlternateContent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【理論】信頼区間（CI）と検定の美しい一致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95%信頼区間は「真の母平均が含まれる確からしい範囲」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信頼区間の性質</a:t>
            </a:r>
          </a:p>
          <a:p>
            <a:pPr lvl="0"/>
            <a:r>
              <a:rPr/>
              <a:t>95%信頼区間（95% CI）： 「同様の実験を100回繰り返したとき、約95回の実験で真の母平均を含むような区間」</a:t>
            </a:r>
          </a:p>
          <a:p>
            <a:pPr lvl="0"/>
            <a:r>
              <a:rPr/>
              <a:t>信頼区間が狭いほど、推定精度が高いことを意味する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検定との1対1の対応関係</a:t>
                </a:r>
              </a:p>
              <a:p>
                <a:pPr lvl="0"/>
                <a:r>
                  <a:rPr b="1"/>
                  <a:t>95% CI に基準値（0など）が含まれない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⇔</m:t>
                    </m:r>
                    <m:r>
                      <m:t>p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0.05</m:t>
                    </m:r>
                  </m:oMath>
                </a14:m>
                <a:r>
                  <a:rPr/>
                  <a:t>（有意差あり！）</a:t>
                </a:r>
              </a:p>
              <a:p>
                <a:pPr lvl="0"/>
                <a:r>
                  <a:rPr b="1"/>
                  <a:t>95% CI に基準値が含まれる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⇔</m:t>
                    </m:r>
                    <m:r>
                      <m:t>p</m:t>
                    </m:r>
                    <m:r>
                      <m:rPr>
                        <m:sty m:val="p"/>
                      </m:rPr>
                      <m:t>≥</m:t>
                    </m:r>
                    <m:r>
                      <m:t>0.05</m:t>
                    </m:r>
                  </m:oMath>
                </a14:m>
                <a:r>
                  <a:rPr/>
                  <a:t>（有意差なし）</a:t>
                </a:r>
              </a:p>
              <a:p>
                <a:pPr lvl="0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検定と信頼区間は表裏一体！</a:t>
                </a:r>
              </a:p>
            </p:txBody>
          </p:sp>
        </mc:Choice>
      </mc:AlternateContent>
    </p:spTree>
  </p:cSld>
</p:sld>
</file>

<file path=ppt/slides/slide17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2" name="Title 1" /><p:cNvSpPr><a:spLocks noGrp="1" /></p:cNvSpPr><p:nvPr><p:ph type="title" /></p:nvPr></p:nvSpPr><p:spPr /><p:txBody><a:bodyPr /><a:lstStyle /><a:p><a:pPr lvl="0" indent="0" marL="0"><a:buNone /></a:pPr><a:r><a:rPr /><a:t>【理論】2種類の過誤（早とちりと見逃し）</a:t></a:r></a:p></p:txBody></p:sp><p:sp><p:nvSpPr><p:cNvPr id="3" name="Content Placeholder 2" /><p:cNvSpPr><a:spLocks noGrp="1" /></p:cNvSpPr><p:nvPr><p:ph idx="1" /></p:nvPr></p:nvSpPr><p:spPr><a:xfrm><a:off x="457200" y="1193800" /><a:ext cx="8229600" cy="495300" /></a:xfrm></p:spPr><p:txBody><a:bodyPr /><a:lstStyle /><a:p><a:pPr lvl="0" indent="0" marL="0"><a:spcBef><a:spcPts val="3000" /></a:spcBef><a:buNone /></a:pPr><a:r><a:rPr b="1" /><a:t>統計学的意思決定には、常に2つの誤りのリスクがある</a:t></a:r></a:p></p:txBody></p:sp><p:graphicFrame><p:nvGraphicFramePr><p:cNvPr id="6" name="Content Placeholder 5" /><p:cNvGraphicFramePr><a:graphicFrameLocks noGrp="1" /></p:cNvGraphicFramePr><p:nvPr><p:ph idx="1" /></p:nvPr></p:nvGraphicFramePr><p:xfrm><a:off x="457200" y="1816100" /><a:ext cx="8229600" cy="800100" /></p:xfrm><a:graphic><a:graphicData uri="http://schemas.openxmlformats.org/drawingml/2006/table"><a:tbl><a:tblPr firstRow="1" bandRow="1"><a:tableStyleId>{5C22544A-7EE6-4342-B048-85BDC9FD1C3A}</a:tableStyleId></a:tblPr><a:tblGrid><a:gridCol w="2743200" /><a:gridCol w="2743200" /><a:gridCol w="2743200" /></a:tblGrid><a:tr h="0"><a:tc><a:txBody><a:bodyPr /><a:lstStyle /><a:p><a:endParaRPr /></a:p></a:txBody><a:tcPr /></a:tc><a:tc><a:txBody><a:bodyPr /><a:lstStyle /><a:p><a:pPr lvl="0" indent="0" marL="0"><a:buNone /></a:pPr><a:r><a:rPr /><a:t>実際は差がない（</a:t></a:r><a14:m><m:oMath xmlns:m="http://schemas.openxmlformats.org/officeDocument/2006/math"><m:sSub><m:e><m:r><m:t>H</m:t></m:r></m:e><m:sub><m:r><m:t>0</m:t></m:r></m:sub></m:sSub></m:oMath></a14:m><a:r><a:rPr /><a:t>が真）</a:t></a:r></a:p></a:txBody><a:tcPr /></a:tc><a:tc><a:txBody><a:bodyPr /><a:lstStyle /><a:p><a:pPr lvl="0" indent="0" marL="0"><a:buNone /></a:pPr><a:r><a:rPr /><a:t>実際は差がある（</a:t></a:r><a14:m><m:oMath xmlns:m="http://schemas.openxmlformats.org/officeDocument/2006/math"><m:sSub><m:e><m:r><m:t>H</m:t></m:r></m:e><m:sub><m:r><m:t>1</m:t></m:r></m:sub></m:sSub></m:oMath></a14:m><a:r><a:rPr /><a:t>が真）</a:t></a:r></a:p></a:txBody><a:tcPr /></a:tc></a:tr><a:tr h="0"><a:tc><a:txBody><a:bodyPr /><a:lstStyle /><a:p><a:pPr lvl="0" indent="0" marL="0"><a:buNone /></a:pPr><a:r><a:rPr b="1" /><a:t>検定結果：差がある（棄却）</a:t></a:r></a:p></a:txBody></a:tc><a:tc><a:txBody><a:bodyPr /><a:lstStyle /><a:p><a:pPr lvl="0" indent="0" marL="0"><a:buNone /></a:pPr><a:r><a:rPr b="1" /><a:t>第1種の過誤（</a:t></a:r><a14:m><m:oMath xmlns:m="http://schemas.openxmlformats.org/officeDocument/2006/math"><m:r><m:t>α</m:t></m:r></m:oMath></a14:m><a:r><a:rPr b="1" /><a:t>エラー）</a:t></a:r><a:r><a:rPr /><a:t>「早とちり / 偽陽性」</a:t></a:r></a:p></a:txBody></a:tc><a:tc><a:txBody><a:bodyPr /><a:lstStyle /><a:p><a:pPr lvl="0" indent="0" marL="0"><a:buNone /></a:pPr><a:r><a:rPr /><a:t>正しい判定（検出力 </a:t></a:r><a14:m><m:oMath xmlns:m="http://schemas.openxmlformats.org/officeDocument/2006/math"><m:r><m:t>1</m:t></m:r><m:r><m:rPr><m:sty m:val="p" /></m:rPr><m:t>−</m:t></m:r><m:r><m:t>β</m:t></m:r></m:oMath></a14:m><a:r><a:rPr /><a:t>）</a:t></a:r></a:p></a:txBody></a:tc></a:tr><a:tr h="0"><a:tc><a:txBody><a:bodyPr /><a:lstStyle /><a:p><a:pPr lvl="0" indent="0" marL="0"><a:buNone /></a:pPr><a:r><a:rPr b="1" /><a:t>検定結果：差がない（採択）</a:t></a:r></a:p></a:txBody></a:tc><a:tc><a:txBody><a:bodyPr /><a:lstStyle /><a:p><a:pPr lvl="0" indent="0" marL="0"><a:buNone /></a:pPr><a:r><a:rPr /><a:t>正しい判定</a:t></a:r></a:p></a:txBody></a:tc><a:tc><a:txBody><a:bodyPr /><a:lstStyle /><a:p><a:pPr lvl="0" indent="0" marL="0"><a:buNone /></a:pPr><a:r><a:rPr b="1" /><a:t>第2種の過誤（</a:t></a:r><a14:m><m:oMath xmlns:m="http://schemas.openxmlformats.org/officeDocument/2006/math"><m:r><m:t>β</m:t></m:r></m:oMath></a14:m><a:r><a:rPr b="1" /><a:t>エラー）</a:t></a:r><a:r><a:rPr /><a:t>「見逃し / 偽陰性」</a:t></a:r></a:p></a:txBody></a:tc></a:tr></a:tbl></a:graphicData></a:graphic></p:graphicFrame><mc:AlternateContent xmlns:mc="http://schemas.openxmlformats.org/markup-compatibility/2006"><mc:Choice xmlns:a14="http://schemas.microsoft.com/office/drawing/2010/main" Requires="a14"><p:sp><p:nvSpPr><p:cNvPr id="3" name="Content Placeholder 2" /><p:cNvSpPr><a:spLocks noGrp="1" /></p:cNvSpPr><p:nvPr><p:ph idx="1" /></p:nvPr></p:nvSpPr><p:spPr><a:xfrm><a:off x="457200" y="2743200" /><a:ext cx="8229600" cy="1727200" /></a:xfrm></p:spPr><p:txBody><a:bodyPr /><a:lstStyle /><a:p><a:pPr lvl="0" /><a:r><a:rPr b="1" /><a:t>第1種の過誤率 </a:t></a:r><a14:m><m:oMath xmlns:m="http://schemas.openxmlformats.org/officeDocument/2006/math"><m:r><m:t>α</m:t></m:r></m:oMath></a14:m><a:r><a:rPr /><a:t>：有意水準（5%に固定して自分で制御できる）</a:t></a:r></a:p><a:p><a:pPr lvl="0" /><a:r><a:rPr b="1" /><a:t>検出力（Power: </a:t></a:r><a14:m><m:oMath xmlns:m="http://schemas.openxmlformats.org/officeDocument/2006/math"><m:r><m:t>1</m:t></m:r><m:r><m:rPr><m:sty m:val="p" /></m:rPr><m:t>−</m:t></m:r><m:r><m:t>β</m:t></m:r></m:oMath></a14:m><a:r><a:rPr b="1" /><a:t>）</a:t></a:r><a:r><a:rPr /><a:t>：本当に差があるときに見逃さない確率</a:t></a:r></a:p><a:p><a:pPr lvl="1" /><a14:m><m:oMath xmlns:m="http://schemas.openxmlformats.org/officeDocument/2006/math"><m:r><m:rPr><m:sty m:val="p" /></m:rPr><m:t>→</m:t></m:r></m:oMath></a14:m><a:r><a:rPr /><a:t> </a:t></a:r><a:r><a:rPr b="1" /><a:t>サンプルサイズ </a:t></a:r><a14:m><m:oMath xmlns:m="http://schemas.openxmlformats.org/officeDocument/2006/math"><m:r><m:t>n</m:t></m:r></m:oMath></a14:m><a:r><a:rPr b="1" /><a:t> を増やすことで検出力を高められる！</a:t></a:r></a:p></p:txBody></p:sp></mc:Choice></mc:AlternateContent></p:spTree></p:cSld>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【理論】「対応のある2標本」とは何か？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同一の対象について「処理前」と「処理後」を比べる強力な手法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独立な2群（対応なし）</a:t>
            </a:r>
          </a:p>
          <a:p>
            <a:pPr lvl="0"/>
            <a:r>
              <a:rPr/>
              <a:t>A群（別の10個体）と B群（別の10個体）</a:t>
            </a:r>
          </a:p>
          <a:p>
            <a:pPr lvl="0"/>
            <a:r>
              <a:rPr/>
              <a:t>個体ごとの元々の体格差などのノイズが大きい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対応のある2群（Paired）</a:t>
            </a:r>
          </a:p>
          <a:p>
            <a:pPr lvl="0"/>
            <a:r>
              <a:rPr b="1"/>
              <a:t>同一の個体</a:t>
            </a:r>
            <a:r>
              <a:rPr/>
              <a:t>で「出穂後5日」と「出穂後35日」</a:t>
            </a:r>
          </a:p>
          <a:p>
            <a:pPr lvl="0"/>
            <a:r>
              <a:rPr/>
              <a:t>「もともと大柄な系統」「小柄な系統」のばらつきを相殺できる！</a:t>
            </a:r>
          </a:p>
          <a:p>
            <a:pPr lvl="0"/>
            <a:r>
              <a:rPr/>
              <a:t>純粋な</a:t>
            </a:r>
            <a:r>
              <a:rPr b="1"/>
              <a:t>「前後の変化量」</a:t>
            </a:r>
            <a:r>
              <a:rPr/>
              <a:t>だけを精密に検出可能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【理論】対応のあるt検定の数学的本質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「対応のある2標本検定」は、実は「差に対する1標本t検定」と同じ！</a:t>
                </a:r>
              </a:p>
              <a:p>
                <a:pPr lvl="0"/>
                <a:r>
                  <a:rPr/>
                  <a:t>各ペアの差を計算する：</a:t>
                </a:r>
                <a14:m>
                  <m:oMath xmlns:m="http://schemas.openxmlformats.org/officeDocument/2006/math">
                    <m:sSub>
                      <m:e>
                        <m:r>
                          <m:t>d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rPr>
                            <m:nor/>
                            <m:sty m:val="p"/>
                          </m:rPr>
                          <m:t>後</m:t>
                        </m:r>
                      </m:sub>
                    </m:sSub>
                    <m:r>
                      <m:rPr>
                        <m:sty m:val="p"/>
                      </m:rPr>
                      <m:t>−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rPr>
                            <m:nor/>
                            <m:sty m:val="p"/>
                          </m:rPr>
                          <m:t>前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この差のデータ </a:t>
                </a:r>
                <a14:m>
                  <m:oMath xmlns:m="http://schemas.openxmlformats.org/officeDocument/2006/math">
                    <m:r>
                      <m:t>D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{</m:t>
                    </m:r>
                    <m:sSub>
                      <m:e>
                        <m:r>
                          <m:t>d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d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…</m:t>
                    </m:r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d</m:t>
                        </m:r>
                      </m:e>
                      <m:sub>
                        <m:r>
                          <m:t>n</m:t>
                        </m:r>
                      </m:sub>
                    </m:sSub>
                    <m:r>
                      <m:rPr>
                        <m:sty m:val="p"/>
                      </m:rPr>
                      <m:t>}</m:t>
                    </m:r>
                  </m:oMath>
                </a14:m>
                <a:r>
                  <a:rPr/>
                  <a:t> に対して：</a:t>
                </a:r>
              </a:p>
              <a:p>
                <a:pPr lvl="1"/>
                <a:r>
                  <a:rPr b="1"/>
                  <a:t>帰無仮説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0</m:t>
                        </m:r>
                      </m:sub>
                    </m:sSub>
                  </m:oMath>
                </a14:m>
                <a:r>
                  <a:rPr/>
                  <a:t>：差の母平均は 0 である（</a:t>
                </a:r>
                <a14:m>
                  <m:oMath xmlns:m="http://schemas.openxmlformats.org/officeDocument/2006/math"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d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0</m:t>
                    </m:r>
                  </m:oMath>
                </a14:m>
                <a:r>
                  <a:rPr/>
                  <a:t>）</a:t>
                </a:r>
              </a:p>
              <a:p>
                <a:pPr lvl="1"/>
                <a:r>
                  <a:rPr b="1"/>
                  <a:t>対立仮説 </a:t>
                </a:r>
                <a14:m>
                  <m:oMath xmlns:m="http://schemas.openxmlformats.org/officeDocument/2006/math">
                    <m:sSub>
                      <m:e>
                        <m:r>
                          <m:t>H</m:t>
                        </m:r>
                      </m:e>
                      <m:sub>
                        <m:r>
                          <m:t>1</m:t>
                        </m:r>
                      </m:sub>
                    </m:sSub>
                  </m:oMath>
                </a14:m>
                <a:r>
                  <a:rPr/>
                  <a:t>：差の母平均は 0 ではない（</a:t>
                </a:r>
                <a14:m>
                  <m:oMath xmlns:m="http://schemas.openxmlformats.org/officeDocument/2006/math">
                    <m:sSub>
                      <m:e>
                        <m:r>
                          <m:t>μ</m:t>
                        </m:r>
                      </m:e>
                      <m:sub>
                        <m:r>
                          <m:t>d</m:t>
                        </m:r>
                      </m:sub>
                    </m:sSub>
                    <m:r>
                      <m:rPr>
                        <m:sty m:val="p"/>
                      </m:rPr>
                      <m:t>≠</m:t>
                    </m:r>
                    <m:r>
                      <m:t>0</m:t>
                    </m:r>
                  </m:oMath>
                </a14:m>
                <a:r>
                  <a:rPr/>
                  <a:t>）</a:t>
                </a:r>
              </a:p>
              <a:p>
                <a:pPr lvl="0"/>
                <a:r>
                  <a:rPr b="1"/>
                  <a:t>Rでは差を手計算する必要なし！</a:t>
                </a:r>
                <a:r>
                  <a:rPr/>
                  <a:t> </a:t>
                </a:r>
                <a:r>
                  <a:rPr>
                    <a:latin typeface="Courier"/>
                  </a:rPr>
                  <a:t>t.test(x, y, paired = TRUE)</a:t>
                </a:r>
                <a:r>
                  <a:rPr/>
                  <a:t> と書くだけでRが自動で差をとって検定してくれる。</a:t>
                </a:r>
              </a:p>
            </p:txBody>
          </p:sp>
        </mc:Choice>
      </mc:AlternateContent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【理論】両側検定 vs 片側検定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両側検定（Two-sided）</a:t>
            </a:r>
          </a:p>
          <a:p>
            <a:pPr lvl="0"/>
            <a:r>
              <a:rPr/>
              <a:t>対立仮説：「差がある（増えたか減ったか問わない）」</a:t>
            </a:r>
          </a:p>
          <a:p>
            <a:pPr lvl="0"/>
            <a:r>
              <a:rPr/>
              <a:t>棄却域は左右両端に2.5%ずつ</a:t>
            </a:r>
          </a:p>
          <a:p>
            <a:pPr lvl="0"/>
            <a:r>
              <a:rPr b="1"/>
              <a:t>原則はこちらを使用する</a:t>
            </a:r>
            <a:r>
              <a:rPr/>
              <a:t>（科学論文の標準）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片側検定（One-sided）</a:t>
            </a:r>
          </a:p>
          <a:p>
            <a:pPr lvl="0"/>
            <a:r>
              <a:rPr/>
              <a:t>対立仮説：「増えた（または減った）」と方向性が明確</a:t>
            </a:r>
          </a:p>
          <a:p>
            <a:pPr lvl="0"/>
            <a:r>
              <a:rPr/>
              <a:t>棄却域は片側だけに5%</a:t>
            </a:r>
          </a:p>
          <a:p>
            <a:pPr lvl="0"/>
            <a:r>
              <a:rPr/>
              <a:t>理論的・生物学的に一方向しかあり得ない場合のみ使用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【超重要】Rでの片側検定の向き（迷子防止ルール）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>
                    <a:latin typeface="Courier"/>
                  </a:rPr>
                  <a:t>alternative = "greater"</a:t>
                </a:r>
                <a:r>
                  <a:rPr b="1"/>
                  <a:t> か </a:t>
                </a:r>
                <a:r>
                  <a:rPr b="1">
                    <a:latin typeface="Courier"/>
                  </a:rPr>
                  <a:t>"less"</a:t>
                </a:r>
                <a:r>
                  <a:rPr b="1"/>
                  <a:t> かで迷ったときの鉄則！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t</m:t>
                      </m:r>
                      <m:r>
                        <m:rPr>
                          <m:sty m:val="p"/>
                        </m:rPr>
                        <m:t>.</m:t>
                      </m:r>
                      <m:r>
                        <m:t>t</m:t>
                      </m:r>
                      <m:r>
                        <m:t>e</m:t>
                      </m:r>
                      <m:r>
                        <m:t>s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(</m:t>
                      </m:r>
                      <m:r>
                        <m:rPr>
                          <m:sty m:val="bi"/>
                        </m:rPr>
                        <m:t>A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rPr>
                          <m:sty m:val="bi"/>
                        </m:rPr>
                        <m:t>B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a</m:t>
                      </m:r>
                      <m:r>
                        <m:t>l</m:t>
                      </m:r>
                      <m:r>
                        <m:t>t</m:t>
                      </m:r>
                      <m:r>
                        <m:t>e</m:t>
                      </m:r>
                      <m:r>
                        <m:t>r</m:t>
                      </m:r>
                      <m:r>
                        <m:t>n</m:t>
                      </m:r>
                      <m:r>
                        <m:t>a</m:t>
                      </m:r>
                      <m:r>
                        <m:t>t</m:t>
                      </m:r>
                      <m:r>
                        <m:t>i</m:t>
                      </m:r>
                      <m:r>
                        <m:t>v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…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p</m:t>
                      </m:r>
                      <m:r>
                        <m:t>a</m:t>
                      </m:r>
                      <m:r>
                        <m:t>i</m:t>
                      </m:r>
                      <m:r>
                        <m:t>r</m:t>
                      </m:r>
                      <m:r>
                        <m:t>e</m:t>
                      </m:r>
                      <m:r>
                        <m:t>d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T</m:t>
                      </m:r>
                      <m:r>
                        <m:t>R</m:t>
                      </m:r>
                      <m:r>
                        <m:t>U</m:t>
                      </m:r>
                      <m:r>
                        <m:t>E</m:t>
                      </m:r>
                      <m:r>
                        <m:rPr>
                          <m:sty m:val="p"/>
                        </m:rPr>
                        <m:t>)</m:t>
                      </m:r>
                    </m:oMath>
                  </m:oMathPara>
                </a14:m>
              </a:p>
              <a:p>
                <a:pPr lvl="0"/>
                <a:r>
                  <a:rPr/>
                  <a:t>R内部での計算は常に </a:t>
                </a:r>
                <a:r>
                  <a:rPr b="1"/>
                  <a:t>第1引数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m:t>A</m:t>
                    </m:r>
                  </m:oMath>
                </a14:m>
                <a:r>
                  <a:rPr b="1"/>
                  <a:t> マイナス 第2引数 </a:t>
                </a:r>
                <a14:m>
                  <m:oMath xmlns:m="http://schemas.openxmlformats.org/officeDocument/2006/math">
                    <m:r>
                      <m:rPr>
                        <m:sty m:val="bi"/>
                      </m:rPr>
                      <m:t>B</m:t>
                    </m:r>
                  </m:oMath>
                </a14:m>
                <a:r>
                  <a:rPr b="1"/>
                  <a:t> （</a:t>
                </a:r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B</m:t>
                    </m:r>
                  </m:oMath>
                </a14:m>
                <a:r>
                  <a:rPr b="1"/>
                  <a:t>）</a:t>
                </a:r>
              </a:p>
              <a:p>
                <a:pPr lvl="0"/>
                <a:r>
                  <a:rPr b="1"/>
                  <a:t>「</a:t>
                </a:r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B</m:t>
                    </m:r>
                  </m:oMath>
                </a14:m>
                <a:r>
                  <a:rPr b="1"/>
                  <a:t>」を主張したいとき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差は正（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&gt;</m:t>
                    </m:r>
                    <m:r>
                      <m:t>0</m:t>
                    </m:r>
                  </m:oMath>
                </a14:m>
                <a:r>
                  <a:rPr/>
                  <a:t>）なので </a:t>
                </a:r>
                <a:r>
                  <a:rPr b="1">
                    <a:latin typeface="Courier"/>
                  </a:rPr>
                  <a:t>"greater"</a:t>
                </a:r>
              </a:p>
              <a:p>
                <a:pPr lvl="0"/>
                <a:r>
                  <a:rPr b="1"/>
                  <a:t>「</a:t>
                </a:r>
                <a14:m>
                  <m:oMath xmlns:m="http://schemas.openxmlformats.org/officeDocument/2006/math">
                    <m:r>
                      <m:t>A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B</m:t>
                    </m:r>
                  </m:oMath>
                </a14:m>
                <a:r>
                  <a:rPr b="1"/>
                  <a:t>」を主張したいとき</a:t>
                </a:r>
                <a:r>
                  <a:rPr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差は負（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&lt;</m:t>
                    </m:r>
                    <m:r>
                      <m:t>0</m:t>
                    </m:r>
                  </m:oMath>
                </a14:m>
                <a:r>
                  <a:rPr/>
                  <a:t>）なので </a:t>
                </a:r>
                <a:r>
                  <a:rPr b="1">
                    <a:latin typeface="Courier"/>
                  </a:rPr>
                  <a:t>"less"</a:t>
                </a:r>
              </a:p>
              <a:p>
                <a:pPr lvl="0" indent="0" marL="1270000">
                  <a:buNone/>
                </a:pPr>
                <a:r>
                  <a:rPr sz="2000" b="1"/>
                  <a:t>本日の課題3の例（出穂後35日が5日より小さいか？）：</a:t>
                </a:r>
                <a:r>
                  <a:rPr sz="2000"/>
                  <a:t> - </a:t>
                </a:r>
                <a:r>
                  <a:rPr sz="2000">
                    <a:latin typeface="Courier"/>
                  </a:rPr>
                  <a:t>t.test(SW5, SW35, alternative = "greater")</a:t>
                </a:r>
                <a:r>
                  <a:rPr sz="2000"/>
                  <a:t> （</a:t>
                </a:r>
                <a14:m>
                  <m:oMath xmlns:m="http://schemas.openxmlformats.org/officeDocument/2006/math">
                    <m:r>
                      <m:t>5</m:t>
                    </m:r>
                    <m:r>
                      <m:t>日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35</m:t>
                    </m:r>
                    <m:r>
                      <m:t>日</m:t>
                    </m:r>
                  </m:oMath>
                </a14:m>
                <a:r>
                  <a:rPr sz="2000"/>
                  <a:t>） - </a:t>
                </a:r>
                <a:r>
                  <a:rPr sz="2000">
                    <a:latin typeface="Courier"/>
                  </a:rPr>
                  <a:t>t.test(SW35, SW5, alternative = "less")</a:t>
                </a:r>
                <a:r>
                  <a:rPr sz="2000"/>
                  <a:t> （</a:t>
                </a:r>
                <a14:m>
                  <m:oMath xmlns:m="http://schemas.openxmlformats.org/officeDocument/2006/math">
                    <m:r>
                      <m:t>35</m:t>
                    </m:r>
                    <m:r>
                      <m:t>日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5</m:t>
                    </m:r>
                    <m:r>
                      <m:t>日</m:t>
                    </m:r>
                  </m:oMath>
                </a14:m>
                <a:r>
                  <a:rPr sz="2000"/>
                  <a:t>） ※ どちらで書いても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 sz="2000"/>
                  <a:t> 値は完全に一致します！</a:t>
                </a:r>
              </a:p>
            </p:txBody>
          </p:sp>
        </mc:Choice>
      </mc:AlternateContent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【実践】実習の背景：イネの枯れ上がり（Stay-green）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本日の解析データ：イネの遺伝解析分離集団（76系統）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イネの登熟と茎葉重の変化</a:t>
            </a:r>
          </a:p>
          <a:p>
            <a:pPr lvl="0"/>
            <a:r>
              <a:rPr/>
              <a:t>出穂後、葉や茎に蓄えられた栄養分（光合成産物）が穂（お米）へ転流する</a:t>
            </a:r>
          </a:p>
          <a:p>
            <a:pPr lvl="0"/>
            <a:r>
              <a:rPr b="1"/>
              <a:t>枯れ上がる系統（Senescence）</a:t>
            </a:r>
            <a:r>
              <a:rPr/>
              <a:t>： 穂への養分転流が進み、茎葉重（SW）が大きく減少</a:t>
            </a:r>
          </a:p>
          <a:p>
            <a:pPr lvl="0"/>
            <a:r>
              <a:rPr b="1"/>
              <a:t>枯れ上がりにくい系統（Stay-green）</a:t>
            </a:r>
            <a:r>
              <a:rPr/>
              <a:t>： 出穂後35日を経過しても青々として茎葉重を維持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2つの遺伝子型（Genotype）</a:t>
            </a:r>
          </a:p>
          <a:p>
            <a:pPr lvl="0"/>
            <a:r>
              <a:rPr b="1"/>
              <a:t>Genotype = A 群（Table 1, 24系統）</a:t>
            </a:r>
          </a:p>
          <a:p>
            <a:pPr lvl="1"/>
            <a:r>
              <a:rPr/>
              <a:t>ジャポニカ型アレルをもつ系統群</a:t>
            </a:r>
          </a:p>
          <a:p>
            <a:pPr lvl="0"/>
            <a:r>
              <a:rPr b="1"/>
              <a:t>Genotype = B 群（Table 2, 52系統）</a:t>
            </a:r>
          </a:p>
          <a:p>
            <a:pPr lvl="1"/>
            <a:r>
              <a:rPr/>
              <a:t>インディカ型アレルをもつ系統群</a:t>
            </a:r>
          </a:p>
          <a:p>
            <a:pPr lvl="0"/>
            <a:r>
              <a:rPr b="1"/>
              <a:t>課題</a:t>
            </a:r>
            <a:r>
              <a:rPr/>
              <a:t>：遺伝子型によって枯れ上がりの性質に違いはあるか？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【実践】本日の実習フロー（4ステップ）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[Step 1] データ読み込み
   Excelファイル (table1.xlsx, table2.xlsx) をデータフレームに読み込む
       ↓
[Step 2] データの可視化
   箱ひげ図＋ドットプロット＋対応線を描き、視覚的に増減傾向を掴む
       ↓
[Step 3] 対応のあるt検定の実行
   t.test(..., paired = TRUE) を実行し、t値・p値・信頼区間を取得
       ↓
[Step 4] 結果の考察とレポート完成
   ひな型.Rmd を編集し、KnitしてHTMLレポートを出力・提出！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【実践】Step 1: データの読み込み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>
                    <a:latin typeface="Courier"/>
                  </a:rPr>
                  <a:t>readxl</a:t>
                </a:r>
                <a:r>
                  <a:rPr b="1"/>
                  <a:t> パッケージを使って Excel ファイルを直接読み込む</a:t>
                </a:r>
              </a:p>
              <a:p>
                <a:pPr lvl="0" indent="0">
                  <a:buNone/>
                </a:pPr>
                <a:r>
                  <a:rPr i="1">
                    <a:solidFill>
                      <a:srgbClr val="60A0B0"/>
                    </a:solidFill>
                    <a:latin typeface="Courier"/>
                  </a:rPr>
                  <a:t># ライブラリの読み込み</a:t>
                </a:r>
                <a:br/>
                <a:r>
                  <a:rPr>
                    <a:solidFill>
                      <a:srgbClr val="06287E"/>
                    </a:solidFill>
                    <a:latin typeface="Courier"/>
                  </a:rPr>
                  <a:t>library</a:t>
                </a:r>
                <a:r>
                  <a:rPr>
                    <a:latin typeface="Courier"/>
                  </a:rPr>
                  <a:t>(readxl)</a:t>
                </a:r>
                <a:br/>
                <a:br/>
                <a:r>
                  <a:rPr i="1">
                    <a:solidFill>
                      <a:srgbClr val="60A0B0"/>
                    </a:solidFill>
                    <a:latin typeface="Courier"/>
                  </a:rPr>
                  <a:t># Excelファイルをデータフレームとして読み込み</a:t>
                </a:r>
                <a:br/>
                <a:r>
                  <a:rPr>
                    <a:latin typeface="Courier"/>
                  </a:rPr>
                  <a:t>table1 </a:t>
                </a:r>
                <a:r>
                  <a:rPr>
                    <a:solidFill>
                      <a:srgbClr val="007020"/>
                    </a:solidFill>
                    <a:latin typeface="Courier"/>
                  </a:rPr>
                  <a:t>&lt;-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read_excel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"table1.xlsx"</a:t>
                </a:r>
                <a:r>
                  <a:rPr>
                    <a:latin typeface="Courier"/>
                  </a:rPr>
                  <a:t>)</a:t>
                </a:r>
                <a:br/>
                <a:r>
                  <a:rPr>
                    <a:latin typeface="Courier"/>
                  </a:rPr>
                  <a:t>table2 </a:t>
                </a:r>
                <a:r>
                  <a:rPr>
                    <a:solidFill>
                      <a:srgbClr val="007020"/>
                    </a:solidFill>
                    <a:latin typeface="Courier"/>
                  </a:rPr>
                  <a:t>&lt;-</a:t>
                </a:r>
                <a:r>
                  <a:rPr>
                    <a:latin typeface="Courier"/>
                  </a:rPr>
                  <a:t> </a:t>
                </a:r>
                <a:r>
                  <a:rPr>
                    <a:solidFill>
                      <a:srgbClr val="06287E"/>
                    </a:solidFill>
                    <a:latin typeface="Courier"/>
                  </a:rPr>
                  <a:t>read_excel</a:t>
                </a:r>
                <a:r>
                  <a:rPr>
                    <a:latin typeface="Courier"/>
                  </a:rPr>
                  <a:t>(</a:t>
                </a:r>
                <a:r>
                  <a:rPr>
                    <a:solidFill>
                      <a:srgbClr val="4070A0"/>
                    </a:solidFill>
                    <a:latin typeface="Courier"/>
                  </a:rPr>
                  <a:t>"table2.xlsx"</a:t>
                </a:r>
                <a:r>
                  <a:rPr>
                    <a:latin typeface="Courier"/>
                  </a:rPr>
                  <a:t>)</a:t>
                </a:r>
                <a:br/>
                <a:br/>
                <a:r>
                  <a:rPr i="1">
                    <a:solidFill>
                      <a:srgbClr val="60A0B0"/>
                    </a:solidFill>
                    <a:latin typeface="Courier"/>
                  </a:rPr>
                  <a:t># 読み込みの確認</a:t>
                </a:r>
                <a:br/>
                <a:r>
                  <a:rPr>
                    <a:solidFill>
                      <a:srgbClr val="06287E"/>
                    </a:solidFill>
                    <a:latin typeface="Courier"/>
                  </a:rPr>
                  <a:t>head</a:t>
                </a:r>
                <a:r>
                  <a:rPr>
                    <a:latin typeface="Courier"/>
                  </a:rPr>
                  <a:t>(table1)</a:t>
                </a:r>
              </a:p>
              <a:p>
                <a:pPr lvl="0"/>
                <a:r>
                  <a:rPr>
                    <a:latin typeface="Courier"/>
                  </a:rPr>
                  <a:t>table1</a:t>
                </a:r>
                <a:r>
                  <a:rPr/>
                  <a:t>：Genotype A のデータ（24系統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×</m:t>
                    </m:r>
                  </m:oMath>
                </a14:m>
                <a:r>
                  <a:rPr/>
                  <a:t> 2列: </a:t>
                </a:r>
                <a:r>
                  <a:rPr>
                    <a:latin typeface="Courier"/>
                  </a:rPr>
                  <a:t>SW5</a:t>
                </a:r>
                <a:r>
                  <a:rPr/>
                  <a:t>, </a:t>
                </a:r>
                <a:r>
                  <a:rPr>
                    <a:latin typeface="Courier"/>
                  </a:rPr>
                  <a:t>SW35</a:t>
                </a:r>
                <a:r>
                  <a:rPr/>
                  <a:t>）</a:t>
                </a:r>
              </a:p>
              <a:p>
                <a:pPr lvl="0"/>
                <a:r>
                  <a:rPr>
                    <a:latin typeface="Courier"/>
                  </a:rPr>
                  <a:t>table2</a:t>
                </a:r>
                <a:r>
                  <a:rPr/>
                  <a:t>：Genotype B のデータ（52系統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×</m:t>
                    </m:r>
                  </m:oMath>
                </a14:m>
                <a:r>
                  <a:rPr/>
                  <a:t> 2列: </a:t>
                </a:r>
                <a:r>
                  <a:rPr>
                    <a:latin typeface="Courier"/>
                  </a:rPr>
                  <a:t>SW5</a:t>
                </a:r>
                <a:r>
                  <a:rPr/>
                  <a:t>, </a:t>
                </a:r>
                <a:r>
                  <a:rPr>
                    <a:latin typeface="Courier"/>
                  </a:rPr>
                  <a:t>SW35</a:t>
                </a:r>
                <a:r>
                  <a:rPr/>
                  <a:t>）</a:t>
                </a:r>
              </a:p>
              <a:p>
                <a:pPr lvl="0"/>
                <a:r>
                  <a:rPr/>
                  <a:t>列を取り出すときは </a:t>
                </a:r>
                <a:r>
                  <a:rPr>
                    <a:latin typeface="Courier"/>
                  </a:rPr>
                  <a:t>table1$SW5</a:t>
                </a:r>
                <a:r>
                  <a:rPr/>
                  <a:t> のように </a:t>
                </a:r>
                <a:r>
                  <a:rPr b="1">
                    <a:latin typeface="Courier"/>
                  </a:rPr>
                  <a:t>$</a:t>
                </a:r>
                <a:r>
                  <a:rPr b="1"/>
                  <a:t> 記号</a:t>
                </a:r>
                <a:r>
                  <a:rPr/>
                  <a:t> を使います</a:t>
                </a:r>
              </a:p>
            </p:txBody>
          </p:sp>
        </mc:Choice>
      </mc:AlternateContent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【実践】Step 2: データの可視化（対応関係を見る）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前後の対応関係を線分で結ぶことで、個体ごとの変化が一目瞭然になる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箱ひげ図を描く</a:t>
            </a:r>
            <a:br/>
            <a:r>
              <a:rPr>
                <a:solidFill>
                  <a:srgbClr val="06287E"/>
                </a:solidFill>
                <a:latin typeface="Courier"/>
              </a:rPr>
              <a:t>boxplot</a:t>
            </a:r>
            <a:r>
              <a:rPr>
                <a:latin typeface="Courier"/>
              </a:rPr>
              <a:t>(table1)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ドットプロットを重ねる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stripchart</a:t>
            </a:r>
            <a:r>
              <a:rPr>
                <a:latin typeface="Courier"/>
              </a:rPr>
              <a:t>(table1, </a:t>
            </a:r>
            <a:r>
              <a:rPr>
                <a:solidFill>
                  <a:srgbClr val="7D9029"/>
                </a:solidFill>
                <a:latin typeface="Courier"/>
              </a:rPr>
              <a:t>vertical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    </a:t>
            </a:r>
            <a:r>
              <a:rPr>
                <a:solidFill>
                  <a:srgbClr val="7D9029"/>
                </a:solidFill>
                <a:latin typeface="Courier"/>
              </a:rPr>
              <a:t>method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"jitter"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7D9029"/>
                </a:solidFill>
                <a:latin typeface="Courier"/>
              </a:rPr>
              <a:t>add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対応する点を線分で結ぶ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stripchart</a:t>
            </a:r>
            <a:r>
              <a:rPr>
                <a:latin typeface="Courier"/>
              </a:rPr>
              <a:t>(table1, </a:t>
            </a:r>
            <a:r>
              <a:rPr>
                <a:solidFill>
                  <a:srgbClr val="7D9029"/>
                </a:solidFill>
                <a:latin typeface="Courier"/>
              </a:rPr>
              <a:t>vertical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(i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4070A0"/>
                </a:solidFill>
                <a:latin typeface="Courier"/>
              </a:rPr>
              <a:t>:</a:t>
            </a:r>
            <a:r>
              <a:rPr>
                <a:solidFill>
                  <a:srgbClr val="06287E"/>
                </a:solidFill>
                <a:latin typeface="Courier"/>
              </a:rPr>
              <a:t>nrow</a:t>
            </a:r>
            <a:r>
              <a:rPr>
                <a:latin typeface="Courier"/>
              </a:rPr>
              <a:t>(table1)) {</a:t>
            </a:r>
            <a:br/>
            <a:r>
              <a:rPr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lines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),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6287E"/>
                </a:solidFill>
                <a:latin typeface="Courier"/>
              </a:rPr>
              <a:t>c</a:t>
            </a:r>
            <a:r>
              <a:rPr>
                <a:latin typeface="Courier"/>
              </a:rPr>
              <a:t>(table1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SW5[i], table1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SW35[i]))</a:t>
            </a:r>
            <a:br/>
            <a:r>
              <a:rPr>
                <a:latin typeface="Courier"/>
              </a:rPr>
              <a:t>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グラフから受ける印象</a:t>
            </a:r>
          </a:p>
          <a:p>
            <a:pPr lvl="0"/>
            <a:r>
              <a:rPr b="1"/>
              <a:t>Genotype A（Table 1）</a:t>
            </a:r>
            <a:r>
              <a:rPr/>
              <a:t>:</a:t>
            </a:r>
          </a:p>
          <a:p>
            <a:pPr lvl="1"/>
            <a:r>
              <a:rPr/>
              <a:t>線分の傾きが上向き・下向きまちまち</a:t>
            </a:r>
          </a:p>
          <a:p>
            <a:pPr lvl="1"/>
            <a:r>
              <a:rPr/>
              <a:t>全体として一貫した増減は見られない</a:t>
            </a:r>
          </a:p>
          <a:p>
            <a:pPr lvl="0"/>
            <a:r>
              <a:rPr b="1"/>
              <a:t>Genotype B（Table 2）</a:t>
            </a:r>
            <a:r>
              <a:rPr/>
              <a:t>:</a:t>
            </a:r>
          </a:p>
          <a:p>
            <a:pPr lvl="1"/>
            <a:r>
              <a:rPr/>
              <a:t>ほとんどの線分が右下がりに傾斜！</a:t>
            </a:r>
          </a:p>
          <a:p>
            <a:pPr lvl="1"/>
            <a:r>
              <a:rPr/>
              <a:t>出穂後35日で一貫して減少している印象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【実践】Step 3: 課題1（Genotype A: 両側検定）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実行コード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t.test</a:t>
            </a:r>
            <a:r>
              <a:rPr>
                <a:latin typeface="Courier"/>
              </a:rPr>
              <a:t>(table1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SW5, table1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SW35,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7D9029"/>
                </a:solidFill>
                <a:latin typeface="Courier"/>
              </a:rPr>
              <a:t>alternative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"two.sided"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7D9029"/>
                </a:solidFill>
                <a:latin typeface="Courier"/>
              </a:rPr>
              <a:t>conf.level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0.95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7D9029"/>
                </a:solidFill>
                <a:latin typeface="Courier"/>
              </a:rPr>
              <a:t>paired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</a:p>
          <a:p>
            <a:pPr lvl="0"/>
            <a:r>
              <a:rPr>
                <a:latin typeface="Courier"/>
              </a:rPr>
              <a:t>alternative = "two.sided"</a:t>
            </a:r>
            <a:r>
              <a:rPr/>
              <a:t>: 両側検定</a:t>
            </a:r>
          </a:p>
          <a:p>
            <a:pPr lvl="0"/>
            <a:r>
              <a:rPr>
                <a:latin typeface="Courier"/>
              </a:rPr>
              <a:t>conf.level = 0.95</a:t>
            </a:r>
            <a:r>
              <a:rPr/>
              <a:t>: 95%信頼区間</a:t>
            </a:r>
          </a:p>
          <a:p>
            <a:pPr lvl="0"/>
            <a:r>
              <a:rPr>
                <a:latin typeface="Courier"/>
              </a:rPr>
              <a:t>paired = TRUE</a:t>
            </a:r>
            <a:r>
              <a:rPr/>
              <a:t>: </a:t>
            </a:r>
            <a:r>
              <a:rPr b="1"/>
              <a:t>対応あり！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コンソール出力結果</a:t>
            </a:r>
          </a:p>
          <a:p>
            <a:pPr lvl="0" indent="0">
              <a:buNone/>
            </a:pPr>
            <a:r>
              <a:rPr>
                <a:latin typeface="Courier"/>
              </a:rPr>
              <a:t>Paired t-test
data:  table1$SW5 and table1$SW35
t = 1.4209, df = 23, p-value = 0.1688
alternative hypothesis:
  true mean difference is not equal to 0
95 percent confidence interval:
 -1.007278  5.426261
sample estimates:
mean difference: 2.209492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【実践】課題1の出力結果を徹底解剖する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数値の意味を1つずつ読み解く</a:t>
                </a:r>
              </a:p>
              <a:p>
                <a:pPr lvl="0"/>
                <a:r>
                  <a:rPr b="1"/>
                  <a:t>検定統計量</a:t>
                </a:r>
                <a:r>
                  <a:rPr/>
                  <a:t>: 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1.4209</m:t>
                    </m:r>
                  </m:oMath>
                </a14:m>
                <a:r>
                  <a:rPr/>
                  <a:t> （誤差の1.4倍程度のズレにとどまる）</a:t>
                </a:r>
              </a:p>
              <a:p>
                <a:pPr lvl="0"/>
                <a:r>
                  <a:rPr b="1"/>
                  <a:t>自由度</a:t>
                </a:r>
                <a:r>
                  <a:rPr/>
                  <a:t>: </a:t>
                </a:r>
                <a14:m>
                  <m:oMath xmlns:m="http://schemas.openxmlformats.org/officeDocument/2006/math">
                    <m:r>
                      <m:t>d</m:t>
                    </m:r>
                    <m:r>
                      <m:t>f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24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=</m:t>
                    </m:r>
                    <m:r>
                      <m:t>23</m:t>
                    </m:r>
                  </m:oMath>
                </a14:m>
              </a:p>
              <a:p>
                <a:pPr lvl="0"/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 b="1"/>
                  <a:t>値</a:t>
                </a:r>
                <a:r>
                  <a:rPr/>
                  <a:t>: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0.1688</m:t>
                    </m:r>
                    <m:r>
                      <m:rPr>
                        <m:sty m:val="p"/>
                      </m:rPr>
                      <m:t>&gt;</m:t>
                    </m:r>
                    <m:r>
                      <m:t>0.05</m:t>
                    </m:r>
                  </m:oMath>
                </a14:m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有意水準5%で帰無仮説は</a:t>
                </a:r>
                <a:r>
                  <a:rPr b="1"/>
                  <a:t>棄却されない（有意差なし）</a:t>
                </a:r>
              </a:p>
              <a:p>
                <a:pPr lvl="0"/>
                <a:r>
                  <a:rPr b="1"/>
                  <a:t>95%信頼区間</a:t>
                </a:r>
                <a:r>
                  <a:rPr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1.007</m:t>
                    </m:r>
                    <m:r>
                      <m:rPr>
                        <m:sty m:val="p"/>
                      </m:rPr>
                      <m:t>,</m:t>
                    </m:r>
                    <m:r>
                      <m:t>5.426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</a:t>
                </a:r>
                <a:r>
                  <a:rPr b="1"/>
                  <a:t>0（差がない）を含んでいる！</a:t>
                </a:r>
              </a:p>
              <a:p>
                <a:pPr lvl="0"/>
                <a:r>
                  <a:rPr b="1"/>
                  <a:t>結論</a:t>
                </a:r>
                <a:r>
                  <a:rPr/>
                  <a:t>:</a:t>
                </a:r>
              </a:p>
              <a:p>
                <a:pPr lvl="1"/>
                <a:r>
                  <a:rPr/>
                  <a:t>Genotype A では、出穂後5日と35日の茎葉重に</a:t>
                </a:r>
                <a:r>
                  <a:rPr b="1"/>
                  <a:t>統計学的に有意な差があるとは言えない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出穂後も茎葉重が維持されており、</a:t>
                </a:r>
                <a:r>
                  <a:rPr b="1"/>
                  <a:t>「枯れ上がりにくい（Stay-green）」</a:t>
                </a:r>
                <a:r>
                  <a:rPr/>
                  <a:t>特性</a:t>
                </a:r>
              </a:p>
            </p:txBody>
          </p:sp>
        </mc:Choice>
      </mc:AlternateContent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【実践】Step 3: 課題2（Genotype B: 両側検定）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実行コード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t.test</a:t>
            </a:r>
            <a:r>
              <a:rPr>
                <a:latin typeface="Courier"/>
              </a:rPr>
              <a:t>(table2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SW5, table2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SW35,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7D9029"/>
                </a:solidFill>
                <a:latin typeface="Courier"/>
              </a:rPr>
              <a:t>alternative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"two.sided"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7D9029"/>
                </a:solidFill>
                <a:latin typeface="Courier"/>
              </a:rPr>
              <a:t>conf.level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0.95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7D9029"/>
                </a:solidFill>
                <a:latin typeface="Courier"/>
              </a:rPr>
              <a:t>paired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</a:p>
          <a:p>
            <a:pPr lvl="0"/>
            <a:r>
              <a:rPr/>
              <a:t>系統数: 52系統</a:t>
            </a:r>
          </a:p>
          <a:p>
            <a:pPr lvl="0"/>
            <a:r>
              <a:rPr/>
              <a:t>検定対象: </a:t>
            </a:r>
            <a:r>
              <a:rPr>
                <a:latin typeface="Courier"/>
              </a:rPr>
              <a:t>table2$SW5</a:t>
            </a:r>
            <a:r>
              <a:rPr/>
              <a:t> と </a:t>
            </a:r>
            <a:r>
              <a:rPr>
                <a:latin typeface="Courier"/>
              </a:rPr>
              <a:t>table2$SW35</a:t>
            </a:r>
          </a:p>
          <a:p>
            <a:pPr lvl="0"/>
            <a:r>
              <a:rPr/>
              <a:t>両側検定（差があるか？）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コンソール出力結果</a:t>
            </a:r>
          </a:p>
          <a:p>
            <a:pPr lvl="0" indent="0">
              <a:buNone/>
            </a:pPr>
            <a:r>
              <a:rPr>
                <a:latin typeface="Courier"/>
              </a:rPr>
              <a:t>Paired t-test
data:  table2$SW5 and table2$SW35
t = 10.106, df = 51, p-value = 8.986e-14
alternative hypothesis:
  true mean difference is not equal to 0
95 percent confidence interval:
  9.486121 14.189264
sample estimates:
mean difference: 11.83769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【実践】課題2の出力結果を徹底解剖する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圧倒的な有意差の読み取り</a:t>
                </a:r>
              </a:p>
              <a:p>
                <a:pPr lvl="0"/>
                <a:r>
                  <a:rPr b="1"/>
                  <a:t>検定統計量</a:t>
                </a:r>
                <a:r>
                  <a:rPr/>
                  <a:t>: 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r>
                      <m:t>10.106</m:t>
                    </m:r>
                  </m:oMath>
                </a14:m>
                <a:r>
                  <a:rPr/>
                  <a:t> （誤差の10倍以上の巨大なズレ！）</a:t>
                </a:r>
              </a:p>
              <a:p>
                <a:pPr lvl="0"/>
                <a:r>
                  <a:rPr b="1"/>
                  <a:t>自由度</a:t>
                </a:r>
                <a:r>
                  <a:rPr/>
                  <a:t>: </a:t>
                </a:r>
                <a14:m>
                  <m:oMath xmlns:m="http://schemas.openxmlformats.org/officeDocument/2006/math">
                    <m:r>
                      <m:t>d</m:t>
                    </m:r>
                    <m:r>
                      <m:t>f</m:t>
                    </m:r>
                    <m:r>
                      <m:rPr>
                        <m:sty m:val="p"/>
                      </m:rPr>
                      <m:t>=</m:t>
                    </m:r>
                    <m:r>
                      <m:t>52</m:t>
                    </m:r>
                    <m:r>
                      <m:rPr>
                        <m:sty m:val="p"/>
                      </m:rPr>
                      <m:t>−</m:t>
                    </m:r>
                    <m:r>
                      <m:t>1</m:t>
                    </m:r>
                    <m:r>
                      <m:rPr>
                        <m:sty m:val="p"/>
                      </m:rPr>
                      <m:t>=</m:t>
                    </m:r>
                    <m:r>
                      <m:t>51</m:t>
                    </m:r>
                  </m:oMath>
                </a14:m>
              </a:p>
              <a:p>
                <a:pPr lvl="0"/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 b="1"/>
                  <a:t>値</a:t>
                </a:r>
                <a:r>
                  <a:rPr/>
                  <a:t>: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=</m:t>
                    </m:r>
                    <m:r>
                      <m:t>8.986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14</m:t>
                        </m:r>
                      </m:sup>
                    </m:sSup>
                    <m:r>
                      <m:rPr>
                        <m:sty m:val="p"/>
                      </m:rPr>
                      <m:t>≪</m:t>
                    </m:r>
                    <m:r>
                      <m:t>0.001</m:t>
                    </m:r>
                  </m:oMath>
                </a14:m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有意水準5%（および0.1%）で帰無仮説を</a:t>
                </a:r>
                <a:r>
                  <a:rPr b="1"/>
                  <a:t>強く棄却！</a:t>
                </a:r>
              </a:p>
              <a:p>
                <a:pPr lvl="0"/>
                <a:r>
                  <a:rPr b="1"/>
                  <a:t>95%信頼区間</a:t>
                </a:r>
                <a:r>
                  <a:rPr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9.486</m:t>
                    </m:r>
                    <m:r>
                      <m:rPr>
                        <m:sty m:val="p"/>
                      </m:rPr>
                      <m:t>,</m:t>
                    </m:r>
                    <m:r>
                      <m:t>14.189</m:t>
                    </m:r>
                    <m:r>
                      <m:rPr>
                        <m:sty m:val="p"/>
                      </m:rPr>
                      <m:t>]</m:t>
                    </m:r>
                  </m:oMath>
                </a14:m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</a:t>
                </a:r>
                <a:r>
                  <a:rPr b="1"/>
                  <a:t>0を全く含まず、完全に正の領域にある！</a:t>
                </a:r>
              </a:p>
              <a:p>
                <a:pPr lvl="0"/>
                <a:r>
                  <a:rPr b="1"/>
                  <a:t>結論</a:t>
                </a:r>
                <a:r>
                  <a:rPr/>
                  <a:t>:</a:t>
                </a:r>
              </a:p>
              <a:p>
                <a:pPr lvl="1"/>
                <a:r>
                  <a:rPr/>
                  <a:t>Genotype B では、出穂後5日と35日の茎葉重に</a:t>
                </a:r>
                <a:r>
                  <a:rPr b="1"/>
                  <a:t>統計学的に極めて高度に有意な差がある</a:t>
                </a:r>
              </a:p>
              <a:p>
                <a:pPr lvl="1"/>
                <a:r>
                  <a:rPr/>
                  <a:t>出穂後35日までに平均して約 11.84 g の茎葉重減少が認められる</a:t>
                </a:r>
              </a:p>
            </p:txBody>
          </p:sp>
        </mc:Choice>
      </mc:AlternateContent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【実践】Step 3: 課題3（Genotype B: 片側検定）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「SW35はSW5より小さいか？」を直接検証する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実行コード（2通りの書き方）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パターン1: SW5 &gt; SW35 を検証</a:t>
            </a:r>
            <a:br/>
            <a:r>
              <a:rPr>
                <a:solidFill>
                  <a:srgbClr val="06287E"/>
                </a:solidFill>
                <a:latin typeface="Courier"/>
              </a:rPr>
              <a:t>t.test</a:t>
            </a:r>
            <a:r>
              <a:rPr>
                <a:latin typeface="Courier"/>
              </a:rPr>
              <a:t>(table2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SW5, table2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SW35,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7D9029"/>
                </a:solidFill>
                <a:latin typeface="Courier"/>
              </a:rPr>
              <a:t>alternative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"greater"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7D9029"/>
                </a:solidFill>
                <a:latin typeface="Courier"/>
              </a:rPr>
              <a:t>paired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パターン2: SW35 &lt; SW5 を検証</a:t>
            </a:r>
            <a:br/>
            <a:r>
              <a:rPr>
                <a:solidFill>
                  <a:srgbClr val="06287E"/>
                </a:solidFill>
                <a:latin typeface="Courier"/>
              </a:rPr>
              <a:t>t.test</a:t>
            </a:r>
            <a:r>
              <a:rPr>
                <a:latin typeface="Courier"/>
              </a:rPr>
              <a:t>(table2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SW35, table2</a:t>
            </a:r>
            <a:r>
              <a:rPr>
                <a:solidFill>
                  <a:srgbClr val="4070A0"/>
                </a:solidFill>
                <a:latin typeface="Courier"/>
              </a:rPr>
              <a:t>$</a:t>
            </a:r>
            <a:r>
              <a:rPr>
                <a:latin typeface="Courier"/>
              </a:rPr>
              <a:t>SW5,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7D9029"/>
                </a:solidFill>
                <a:latin typeface="Courier"/>
              </a:rPr>
              <a:t>alternative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"less"</a:t>
            </a:r>
            <a:r>
              <a:rPr>
                <a:latin typeface="Courier"/>
              </a:rPr>
              <a:t>,</a:t>
            </a:r>
            <a:br/>
            <a:r>
              <a:rPr>
                <a:latin typeface="Courier"/>
              </a:rPr>
              <a:t>       </a:t>
            </a:r>
            <a:r>
              <a:rPr>
                <a:solidFill>
                  <a:srgbClr val="7D9029"/>
                </a:solidFill>
                <a:latin typeface="Courier"/>
              </a:rPr>
              <a:t>paired 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880000"/>
                </a:solidFill>
                <a:latin typeface="Courier"/>
              </a:rPr>
              <a:t>TRUE</a:t>
            </a:r>
            <a:r>
              <a:rPr>
                <a:latin typeface="Courier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/>
              <p:cNvSpPr>
                <a:spLocks noGrp="1"/>
              </p:cNvSpPr>
              <p:nvPr>
                <p:ph idx="2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結果と考察</a:t>
                </a:r>
              </a:p>
              <a:p>
                <a:pPr lvl="0"/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値: 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=</m:t>
                    </m:r>
                    <m:r>
                      <m:t>4.493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14</m:t>
                        </m:r>
                      </m:sup>
                    </m:sSup>
                  </m:oMath>
                </a14:m>
              </a:p>
              <a:p>
                <a:pPr lvl="1"/>
                <a:r>
                  <a:rPr/>
                  <a:t>※ 両側検定の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 値（</a:t>
                </a:r>
                <a14:m>
                  <m:oMath xmlns:m="http://schemas.openxmlformats.org/officeDocument/2006/math">
                    <m:r>
                      <m:t>8.986</m:t>
                    </m:r>
                    <m:r>
                      <m:rPr>
                        <m:sty m:val="p"/>
                      </m:rPr>
                      <m:t>×</m:t>
                    </m:r>
                    <m:sSup>
                      <m:e>
                        <m:r>
                          <m:t>10</m:t>
                        </m:r>
                      </m:e>
                      <m:sup>
                        <m:r>
                          <m:rPr>
                            <m:sty m:val="p"/>
                          </m:rPr>
                          <m:t>−</m:t>
                        </m:r>
                        <m:r>
                          <m:t>14</m:t>
                        </m:r>
                      </m:sup>
                    </m:sSup>
                  </m:oMath>
                </a14:m>
                <a:r>
                  <a:rPr/>
                  <a:t>）の</a:t>
                </a:r>
                <a:r>
                  <a:rPr b="1"/>
                  <a:t>ちょうど半分</a:t>
                </a:r>
                <a:r>
                  <a:rPr/>
                  <a:t>！</a:t>
                </a:r>
              </a:p>
              <a:p>
                <a:pPr lvl="0"/>
                <a:r>
                  <a:rPr/>
                  <a:t>95%片側信頼区間: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[</m:t>
                    </m:r>
                    <m:r>
                      <m:t>9.876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sty m:val="p"/>
                      </m:rPr>
                      <m:t>∞</m:t>
                    </m:r>
                    <m:r>
                      <m:rPr>
                        <m:sty m:val="p"/>
                      </m:rPr>
                      <m:t>)</m:t>
                    </m:r>
                  </m:oMath>
                </a14:m>
              </a:p>
              <a:p>
                <a:pPr lvl="0"/>
                <a:r>
                  <a:rPr b="1"/>
                  <a:t>結論</a:t>
                </a:r>
                <a:r>
                  <a:rPr/>
                  <a:t>:</a:t>
                </a:r>
              </a:p>
              <a:p>
                <a:pPr lvl="1"/>
                <a:r>
                  <a:rPr/>
                  <a:t>SW35の平均はSW5の平均よりも</a:t>
                </a:r>
                <a:r>
                  <a:rPr b="1"/>
                  <a:t>有意に小さい</a:t>
                </a:r>
                <a:r>
                  <a:rPr/>
                  <a:t>（枯れ上がっている）ことが立証された</a:t>
                </a:r>
              </a:p>
            </p:txBody>
          </p:sp>
        </mc:Choice>
      </mc:AlternateContent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【実践】全体の生物学的考察（AとBの比較）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単に「p値が〇〇だった」で終わらせず、生物学的な意味に踏み込む！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解析結果の対比</a:t>
                </a:r>
              </a:p>
              <a:p>
                <a:pPr lvl="0"/>
                <a:r>
                  <a:rPr b="1"/>
                  <a:t>Genotype A（ジャポニカ型アレル）</a:t>
                </a:r>
                <a:r>
                  <a:rPr/>
                  <a:t>:</a:t>
                </a:r>
              </a:p>
              <a:p>
                <a:pPr lvl="1"/>
                <a:r>
                  <a:rPr/>
                  <a:t>有意差なし（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=</m:t>
                    </m:r>
                    <m:r>
                      <m:t>0.169</m:t>
                    </m:r>
                  </m:oMath>
                </a14:m>
                <a:r>
                  <a:rPr/>
                  <a:t>）</a:t>
                </a:r>
              </a:p>
              <a:p>
                <a:pPr lvl="1"/>
                <a:r>
                  <a:rPr/>
                  <a:t>出穂後も茎葉重をキープ</a:t>
                </a:r>
              </a:p>
              <a:p>
                <a:pPr lvl="0"/>
                <a:r>
                  <a:rPr b="1"/>
                  <a:t>Genotype B（インディカ型アレル）</a:t>
                </a:r>
                <a:r>
                  <a:rPr/>
                  <a:t>:</a:t>
                </a:r>
              </a:p>
              <a:p>
                <a:pPr lvl="1"/>
                <a:r>
                  <a:rPr/>
                  <a:t>有意差あり（</a:t>
                </a:r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0.001</m:t>
                    </m:r>
                  </m:oMath>
                </a14:m>
                <a:r>
                  <a:rPr/>
                  <a:t>, 約11.8g減少）</a:t>
                </a:r>
              </a:p>
              <a:p>
                <a:pPr lvl="1"/>
                <a:r>
                  <a:rPr/>
                  <a:t>出穂後に顕著に茎葉重が減少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生物学的考察の書き方例</a:t>
            </a:r>
          </a:p>
          <a:p>
            <a:pPr lvl="0"/>
            <a:r>
              <a:rPr/>
              <a:t>出穂後の登熟期において、茎葉部に蓄えられた栄養分が穂へ活発に転流されると、茎葉部は乾物重を失って「枯れ上がり（senescence）」が起きる</a:t>
            </a:r>
          </a:p>
          <a:p>
            <a:pPr lvl="0"/>
            <a:r>
              <a:rPr/>
              <a:t>本解析から、この特性を決める遺伝子座において、</a:t>
            </a:r>
            <a:r>
              <a:rPr b="1"/>
              <a:t>Genotype Aは「枯れ上がりにくい（Stay-green）」表現型</a:t>
            </a:r>
            <a:r>
              <a:rPr/>
              <a:t>と、</a:t>
            </a:r>
            <a:r>
              <a:rPr b="1"/>
              <a:t>Genotype Bは「穂への転流が進み枯れ上がる」表現型</a:t>
            </a:r>
            <a:r>
              <a:rPr/>
              <a:t>と強く連鎖していることが示唆される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【実践】レポート作成の仕上げ方（ひな型.Rmd）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以下のステップでレポートを作成・提出してください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RStudioで「ひな型.Rmd」を開く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冒頭のヘッダーを書き換える</a:t>
                </a:r>
              </a:p>
              <a:p>
                <a:pPr lvl="1"/>
                <a:r>
                  <a:rPr>
                    <a:latin typeface="Courier"/>
                  </a:rPr>
                  <a:t>author: "あなたの学籍番号・名前"</a:t>
                </a:r>
              </a:p>
              <a:p>
                <a:pPr lvl="1"/>
                <a:r>
                  <a:rPr>
                    <a:latin typeface="Courier"/>
                  </a:rPr>
                  <a:t>date: "今日の日付"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本文中の「%%%%%」の部分を自分の考察で埋める</a:t>
                </a:r>
              </a:p>
              <a:p>
                <a:pPr lvl="1"/>
                <a:r>
                  <a:rPr/>
                  <a:t>グラフの印象、仮説の設定、検定統計量の値、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値の判断、生物学的考察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「Knit」ボタンをクリックして HTML を生成する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生成された HTML ファイルを提出！</a:t>
                </a:r>
              </a:p>
            </p:txBody>
          </p:sp>
        </mc:Choice>
      </mc:AlternateContent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トラブルシューティング（よくある困りごと）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エラー1: </a:t>
                </a:r>
                <a:r>
                  <a:rPr b="1">
                    <a:latin typeface="Courier"/>
                  </a:rPr>
                  <a:t>cannot open file 'table1.xlsx'</a:t>
                </a:r>
              </a:p>
              <a:p>
                <a:pPr lvl="0"/>
                <a:r>
                  <a:rPr b="1"/>
                  <a:t>原因</a:t>
                </a:r>
                <a:r>
                  <a:rPr/>
                  <a:t>：Rのワーキングディレクトリがファイルのある場所と一致していない</a:t>
                </a:r>
              </a:p>
              <a:p>
                <a:pPr lvl="0"/>
                <a:r>
                  <a:rPr b="1"/>
                  <a:t>対策</a:t>
                </a:r>
                <a:r>
                  <a:rPr/>
                  <a:t>：</a:t>
                </a:r>
              </a:p>
              <a:p>
                <a:pPr lvl="1"/>
                <a:r>
                  <a:rPr/>
                  <a:t>RStudioのFileペインでフォルダを開く</a:t>
                </a:r>
              </a:p>
              <a:p>
                <a:pPr lvl="1"/>
                <a:r>
                  <a:rPr/>
                  <a:t>歯車アイコン「More」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「</a:t>
                </a:r>
                <a:r>
                  <a:rPr b="1"/>
                  <a:t>Set As Working Directory</a:t>
                </a:r>
                <a:r>
                  <a:rPr/>
                  <a:t>」をクリック</a:t>
                </a:r>
              </a:p>
              <a:p>
                <a:pPr lvl="1"/>
                <a:r>
                  <a:rPr/>
                  <a:t>Consoleで </a:t>
                </a:r>
                <a:r>
                  <a:rPr>
                    <a:latin typeface="Courier"/>
                  </a:rPr>
                  <a:t>dir()</a:t>
                </a:r>
                <a:r>
                  <a:rPr/>
                  <a:t> を実行してファイル名が出るか確認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エラー2: </a:t>
            </a:r>
            <a:r>
              <a:rPr b="1">
                <a:latin typeface="Courier"/>
              </a:rPr>
              <a:t>could not find function "read_excel"</a:t>
            </a:r>
          </a:p>
          <a:p>
            <a:pPr lvl="0"/>
            <a:r>
              <a:rPr b="1"/>
              <a:t>原因</a:t>
            </a:r>
            <a:r>
              <a:rPr/>
              <a:t>：</a:t>
            </a:r>
            <a:r>
              <a:rPr>
                <a:latin typeface="Courier"/>
              </a:rPr>
              <a:t>readxl</a:t>
            </a:r>
            <a:r>
              <a:rPr/>
              <a:t> パッケージが読み込まれていない</a:t>
            </a:r>
          </a:p>
          <a:p>
            <a:pPr lvl="0"/>
            <a:r>
              <a:rPr b="1"/>
              <a:t>対策</a:t>
            </a:r>
            <a:r>
              <a:rPr/>
              <a:t>：</a:t>
            </a:r>
          </a:p>
          <a:p>
            <a:pPr lvl="1"/>
            <a:r>
              <a:rPr>
                <a:latin typeface="Courier"/>
              </a:rPr>
              <a:t>library(readxl)</a:t>
            </a:r>
            <a:r>
              <a:rPr/>
              <a:t> を実行</a:t>
            </a:r>
          </a:p>
          <a:p>
            <a:pPr lvl="1"/>
            <a:r>
              <a:rPr/>
              <a:t>それでもダメなら </a:t>
            </a:r>
            <a:r>
              <a:rPr>
                <a:latin typeface="Courier"/>
              </a:rPr>
              <a:t>install.packages("readxl")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本日のまとめ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今日の3大テイクアウェイ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仮説検定は「偶然か本物か」を客観的にジャッジする道具</a:t>
                </a:r>
              </a:p>
              <a:p>
                <a:pPr lvl="1"/>
                <a:r>
                  <a:rPr/>
                  <a:t>背理法に基づき、帰無仮説（差＝0）が偶然起きる確率（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値）を計算して判断する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対応のあるt検定は「前後の変化」を捉える強力な手法</a:t>
                </a:r>
              </a:p>
              <a:p>
                <a:pPr lvl="1"/>
                <a:r>
                  <a:rPr/>
                  <a:t>同一個体の差をとることで個体差を相殺し、実質的な1標本検定として解釈できる</a:t>
                </a:r>
              </a:p>
              <a:p>
                <a:pPr lvl="0" indent="-342900" marL="342900">
                  <a:buAutoNum type="arabicPeriod"/>
                </a:pPr>
                <a:r>
                  <a:rPr b="1"/>
                  <a:t>統計結果を生物学の言葉に翻訳できて一人前！</a:t>
                </a:r>
              </a:p>
              <a:p>
                <a:pPr lvl="1"/>
                <a14:m>
                  <m:oMath xmlns:m="http://schemas.openxmlformats.org/officeDocument/2006/math">
                    <m:r>
                      <m:t>p</m:t>
                    </m:r>
                    <m:r>
                      <m:rPr>
                        <m:sty m:val="p"/>
                      </m:rPr>
                      <m:t>&lt;</m:t>
                    </m:r>
                    <m:r>
                      <m:t>0.05</m:t>
                    </m:r>
                  </m:oMath>
                </a14:m>
                <a:r>
                  <a:rPr/>
                  <a:t> の先にある「イネの養分転流・枯れ上がり特性の差」を考察することがデータ解析の真の目的</a:t>
                </a:r>
              </a:p>
            </p:txBody>
          </p:sp>
        </mc:Choice>
      </mc:AlternateContent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次回予告：検定 ②</a:t>
            </a:r>
          </a:p>
          <a:p>
            <a:pPr lvl="0" indent="0" marL="0">
              <a:buNone/>
            </a:pPr>
            <a:r>
              <a:rPr b="1"/>
              <a:t>「対応のない2標本のt検定（2群の比較・等分散性の検定・Welchのt検定）」</a:t>
            </a:r>
            <a:r>
              <a:rPr/>
              <a:t> お疲れ様でした！レポートの仕上げに取り掛かりましょう。 EOF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生物情報処理演習 第7回</dc:title>
  <dc:creator>生物情報処理演習</dc:creator>
  <cp:keywords/>
  <dcterms:created xsi:type="dcterms:W3CDTF">2026-10-07T09:55:59Z</dcterms:created>
  <dcterms:modified xsi:type="dcterms:W3CDTF">2026-10-07T09:55:59Z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2026年度</vt:lpwstr>
  </property>
  <property fmtid="{D5CDD505-2E9C-101B-9397-08002B2CF9AE}" pid="3" name="output">
    <vt:lpwstr>powerpoint_presentation</vt:lpwstr>
  </property>
  <property fmtid="{D5CDD505-2E9C-101B-9397-08002B2CF9AE}" pid="4" name="subtitle">
    <vt:lpwstr>統計学的仮説検定 ① 〜1標本t検定と対応のあるt検定〜</vt:lpwstr>
  </property>
</Properties>
</file>